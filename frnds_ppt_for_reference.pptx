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87" r:id="rId5"/>
    <p:sldId id="304" r:id="rId6"/>
    <p:sldId id="270" r:id="rId7"/>
    <p:sldId id="289" r:id="rId8"/>
    <p:sldId id="295" r:id="rId9"/>
    <p:sldId id="296" r:id="rId10"/>
    <p:sldId id="298" r:id="rId11"/>
    <p:sldId id="284" r:id="rId12"/>
    <p:sldId id="301" r:id="rId13"/>
    <p:sldId id="293" r:id="rId14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3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96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124252"/>
            <a:ext cx="7696200" cy="9144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Aurora Music: Cloud-Native Music Streaming &amp;</a:t>
            </a:r>
            <a:endParaRPr sz="3600" b="0" dirty="0"/>
          </a:p>
          <a:p>
            <a:pPr algn="ctr">
              <a:defRPr sz="2800" b="1"/>
            </a:pPr>
            <a:r>
              <a:rPr dirty="0"/>
              <a:t>Audio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dirty="0"/>
              <a:t> Platform</a:t>
            </a:r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34" name="Team Members     Group No: 13…"/>
          <p:cNvSpPr txBox="1"/>
          <p:nvPr/>
        </p:nvSpPr>
        <p:spPr>
          <a:xfrm>
            <a:off x="455849" y="1981200"/>
            <a:ext cx="8008665" cy="35435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/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endParaRPr lang="en-US" dirty="0"/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Team</a:t>
            </a:r>
            <a:r>
              <a:rPr lang="en-IN" dirty="0"/>
              <a:t>_No</a:t>
            </a:r>
            <a:r>
              <a:rPr lang="en-US" dirty="0"/>
              <a:t>: 8</a:t>
            </a:r>
            <a:r>
              <a:rPr dirty="0"/>
              <a:t>		</a:t>
            </a:r>
            <a:r>
              <a:rPr b="0" dirty="0"/>
              <a:t>		</a:t>
            </a:r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b="0" dirty="0"/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b="0" dirty="0"/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b="0" dirty="0"/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b="0" dirty="0"/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b="0" dirty="0"/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b="0" dirty="0"/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b="0" dirty="0"/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b="0" dirty="0"/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endParaRPr dirty="0"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711288156"/>
              </p:ext>
            </p:extLst>
          </p:nvPr>
        </p:nvGraphicFramePr>
        <p:xfrm>
          <a:off x="580314" y="2928404"/>
          <a:ext cx="7983372" cy="151247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BL.EN.U4CSE23247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Reddim Thoshan Reddy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CSE C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BL.EN.U4CSE23249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S.J.L Vamsi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CSE 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BL.EN.U4CSE23258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Vundela Lasya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CSE 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</a:tbl>
          </a:graphicData>
        </a:graphic>
      </p:graphicFrame>
      <p:sp>
        <p:nvSpPr>
          <p:cNvPr id="2" name="Rectangle">
            <a:extLst>
              <a:ext uri="{FF2B5EF4-FFF2-40B4-BE49-F238E27FC236}">
                <a16:creationId xmlns:a16="http://schemas.microsoft.com/office/drawing/2014/main" id="{7840AD4D-AC66-9020-8CDF-AF322A6ECCC2}"/>
              </a:ext>
            </a:extLst>
          </p:cNvPr>
          <p:cNvSpPr/>
          <p:nvPr/>
        </p:nvSpPr>
        <p:spPr>
          <a:xfrm>
            <a:off x="1447800" y="4572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800" b="0">
                <a:latin typeface="+mn-lt"/>
                <a:ea typeface="+mn-ea"/>
                <a:cs typeface="+mn-cs"/>
                <a:sym typeface="Arial"/>
              </a:defRPr>
            </a:pPr>
            <a:r>
              <a:rPr b="1" dirty="0"/>
              <a:t>23CSE363 - Cloud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B835FDA-DC81-4F5C-BEDE-40BF7A20AA2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883919" y="261395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>
              <a:defRPr sz="2400" b="1"/>
            </a:pPr>
            <a:r>
              <a:rPr dirty="0"/>
              <a:t>Introduction</a:t>
            </a:r>
          </a:p>
        </p:txBody>
      </p:sp>
      <p:sp>
        <p:nvSpPr>
          <p:cNvPr id="144" name="Introduction…"/>
          <p:cNvSpPr/>
          <p:nvPr/>
        </p:nvSpPr>
        <p:spPr>
          <a:xfrm>
            <a:off x="828127" y="2254320"/>
            <a:ext cx="7680961" cy="2349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>
              <a:spcBef>
                <a:spcPts val="400"/>
              </a:spcBef>
              <a:buClr>
                <a:srgbClr val="6699FF"/>
              </a:buClr>
              <a:buSzPct val="100000"/>
              <a:defRPr sz="2000"/>
            </a:pPr>
            <a:r>
              <a:rPr lang="en-US" sz="2000" dirty="0"/>
              <a:t>This project presents a cloud-native music application that enables users to upload, stream, search, and identify audio tracks through a web interface.</a:t>
            </a:r>
          </a:p>
          <a:p>
            <a:pPr>
              <a:spcBef>
                <a:spcPts val="400"/>
              </a:spcBef>
              <a:buClr>
                <a:srgbClr val="6699FF"/>
              </a:buClr>
              <a:buSzPct val="100000"/>
              <a:defRPr sz="2000"/>
            </a:pPr>
            <a:endParaRPr lang="en-US" sz="2000" dirty="0"/>
          </a:p>
          <a:p>
            <a:pPr>
              <a:spcBef>
                <a:spcPts val="400"/>
              </a:spcBef>
              <a:buClr>
                <a:srgbClr val="6699FF"/>
              </a:buClr>
              <a:buSzPct val="100000"/>
              <a:defRPr sz="2000"/>
            </a:pPr>
            <a:r>
              <a:rPr lang="en-US" sz="2000" dirty="0"/>
              <a:t> The system is designed using a containerized backend architecture and deployed in a scalable cloud environment. Audio files are securely stored in cloud object storage, while metadata and user information are maintained in a managed database service. 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>
              <a:defRPr sz="2400" b="1"/>
            </a:pPr>
            <a:r>
              <a:rPr dirty="0"/>
              <a:t>Literature Survey (LR Summary)</a:t>
            </a:r>
            <a:endParaRPr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B9BEA9-0008-0041-E9D1-A8B251954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91745"/>
              </p:ext>
            </p:extLst>
          </p:nvPr>
        </p:nvGraphicFramePr>
        <p:xfrm>
          <a:off x="784311" y="1492250"/>
          <a:ext cx="7724777" cy="443230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704851">
                  <a:extLst>
                    <a:ext uri="{9D8B030D-6E8A-4147-A177-3AD203B41FA5}">
                      <a16:colId xmlns:a16="http://schemas.microsoft.com/office/drawing/2014/main" val="3738985348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103536762"/>
                    </a:ext>
                  </a:extLst>
                </a:gridCol>
                <a:gridCol w="1893571">
                  <a:extLst>
                    <a:ext uri="{9D8B030D-6E8A-4147-A177-3AD203B41FA5}">
                      <a16:colId xmlns:a16="http://schemas.microsoft.com/office/drawing/2014/main" val="2570879095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979042068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14196244"/>
                    </a:ext>
                  </a:extLst>
                </a:gridCol>
              </a:tblGrid>
              <a:tr h="889001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title of the paper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from the paper (based on methodology, technology)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problem (for your proposed work)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01868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B. Pahl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"Containerization and the PaaS Cloud" (2015)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Containerization provides lightweight virtualization, improving portability and consistency across infrastructures.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Distributed configurations and secrets security in containers.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29870"/>
                  </a:ext>
                </a:extLst>
              </a:tr>
              <a:tr h="1209675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B. McFee et al.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"Librosa: Audio and Music Signal Analysis" (2015)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Provides digital signal processing (DSP) for waveform analysis, beat tracking, and audio feature extraction.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Stateless processing and media file retrieval latency.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451820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R. Buyya et al.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"Market-Oriented Cloud Computing" (2009)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Presents utility cloud computing paradigms for allocating resources dynamically on-demand.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Secure caching, user session integrity, and content distribution networks.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687235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1" y="244956"/>
            <a:ext cx="7315200" cy="887641"/>
          </a:xfrm>
        </p:spPr>
        <p:txBody>
          <a:bodyPr/>
          <a:lstStyle/>
          <a:p>
            <a:pPr>
              <a:defRPr sz="2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 Requirements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220686"/>
            <a:ext cx="7968343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500" b="0"/>
            </a:pPr>
            <a:r>
              <a:rPr dirty="0"/>
              <a:t>• Frontend: HTML5, CSS3 (</a:t>
            </a:r>
            <a:r>
              <a:rPr dirty="0" err="1"/>
              <a:t>Glassmorphism</a:t>
            </a:r>
            <a:r>
              <a:rPr dirty="0"/>
              <a:t> &amp; Dark Mode UI), JavaScript (Web Audio API for real-time visualizer)</a:t>
            </a:r>
            <a:endParaRPr lang="en-US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00" b="0"/>
            </a:pPr>
            <a:endParaRPr lang="en-IN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00" b="0"/>
            </a:pPr>
            <a:endParaRPr dirty="0"/>
          </a:p>
          <a:p>
            <a:pPr algn="l">
              <a:defRPr sz="1500" b="0"/>
            </a:pPr>
            <a:r>
              <a:rPr dirty="0"/>
              <a:t>• Backend: Python 3.12, Flask Framework, </a:t>
            </a:r>
            <a:r>
              <a:rPr dirty="0" err="1"/>
              <a:t>SQLAlchemy</a:t>
            </a:r>
            <a:r>
              <a:rPr dirty="0"/>
              <a:t> ORM, </a:t>
            </a:r>
            <a:r>
              <a:rPr dirty="0" err="1"/>
              <a:t>Librosa</a:t>
            </a:r>
            <a:r>
              <a:rPr dirty="0"/>
              <a:t>, F</a:t>
            </a:r>
            <a:r>
              <a:rPr lang="en-IN" dirty="0"/>
              <a:t>f</a:t>
            </a:r>
            <a:r>
              <a:rPr dirty="0"/>
              <a:t>mpeg</a:t>
            </a:r>
            <a:endParaRPr lang="en-US" dirty="0"/>
          </a:p>
          <a:p>
            <a:pPr algn="l">
              <a:defRPr sz="1500" b="0"/>
            </a:pPr>
            <a:endParaRPr lang="en-IN" dirty="0"/>
          </a:p>
          <a:p>
            <a:pPr algn="l">
              <a:defRPr sz="1500" b="0"/>
            </a:pPr>
            <a:endParaRPr dirty="0"/>
          </a:p>
          <a:p>
            <a:pPr algn="l">
              <a:defRPr sz="1500" b="0"/>
            </a:pPr>
            <a:r>
              <a:rPr dirty="0"/>
              <a:t>• Cloud Stack (AWS): EC2, RDS MySQL, S3, IAM, SSM Parameter Store, ECR, CloudWatch Logs, ALB, CloudFront CDN, Route 53 DNS</a:t>
            </a:r>
            <a:endParaRPr lang="en-US" dirty="0"/>
          </a:p>
          <a:p>
            <a:pPr algn="l">
              <a:defRPr sz="1500" b="0"/>
            </a:pPr>
            <a:endParaRPr lang="en-IN" dirty="0"/>
          </a:p>
          <a:p>
            <a:pPr algn="l">
              <a:defRPr sz="1500" b="0"/>
            </a:pPr>
            <a:endParaRPr dirty="0"/>
          </a:p>
          <a:p>
            <a:pPr algn="l">
              <a:defRPr sz="1500" b="0"/>
            </a:pPr>
            <a:r>
              <a:rPr dirty="0"/>
              <a:t>• Deployment: Docker, Docker Compose, Git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A04D3-8EA8-169B-E844-BFB4CE34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70DD1279-B8D8-6725-9A7D-08393025BDB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5</a:t>
            </a:r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8E7F9F-8372-9054-9851-2C6F6219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214816"/>
          </a:xfrm>
        </p:spPr>
        <p:txBody>
          <a:bodyPr/>
          <a:lstStyle/>
          <a:p>
            <a:pPr>
              <a:defRPr sz="2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FA59F-4D4E-64CF-9A04-C6C122CAB799}"/>
              </a:ext>
            </a:extLst>
          </p:cNvPr>
          <p:cNvSpPr txBox="1"/>
          <p:nvPr/>
        </p:nvSpPr>
        <p:spPr>
          <a:xfrm>
            <a:off x="914400" y="201168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D1174-F96A-4E54-7D8B-A459FFFCA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90" y="1306890"/>
            <a:ext cx="7591293" cy="462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3446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6</a:t>
            </a:r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FFD176-CDD6-F84E-9B1C-FFD81400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214816"/>
          </a:xfrm>
        </p:spPr>
        <p:txBody>
          <a:bodyPr/>
          <a:lstStyle/>
          <a:p>
            <a:pPr>
              <a:defRPr sz="2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7315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• Traffic Entry: Route 53 (DNS) resolves domain name to CloudFront CDN</a:t>
            </a:r>
            <a:endParaRPr lang="en-US" dirty="0"/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Content Delivery: CloudFront CDN forces HTTPS redirect and routes requests to Application Load Balancer (ALB)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dirty="0"/>
              <a:t>• Load Balancing: ALB checks EC2 health and balances web traffic to the EC2 container on Port 80</a:t>
            </a:r>
            <a:endParaRPr lang="en-US" dirty="0"/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App Engine: EC2 runs the Flask application inside a Docker container (orchestrated by </a:t>
            </a:r>
            <a:r>
              <a:rPr dirty="0" err="1"/>
              <a:t>Gunicorn</a:t>
            </a:r>
            <a:r>
              <a:rPr dirty="0"/>
              <a:t>)</a:t>
            </a:r>
            <a:endParaRPr lang="en-US" dirty="0"/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Storage &amp; Databases:</a:t>
            </a:r>
          </a:p>
          <a:p>
            <a:pPr>
              <a:defRPr sz="1400"/>
            </a:pPr>
            <a:r>
              <a:rPr dirty="0"/>
              <a:t>  - Structured data (users, song details) is stored in Amazon RDS MySQL</a:t>
            </a:r>
          </a:p>
          <a:p>
            <a:pPr>
              <a:defRPr sz="1400"/>
            </a:pPr>
            <a:r>
              <a:rPr dirty="0"/>
              <a:t>  - Large audio media files are uploaded to and streamed from Amazon S3</a:t>
            </a:r>
            <a:endParaRPr lang="en-US" dirty="0"/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Security: IAM Instance Profile secures service calls, and SSM Parameter Store manages RDS credentials.</a:t>
            </a:r>
          </a:p>
        </p:txBody>
      </p:sp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004296" y="244956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>
              <a:defRPr sz="2400" b="1"/>
            </a:pPr>
            <a:r>
              <a:rPr dirty="0"/>
              <a:t>Audio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dirty="0"/>
              <a:t> &amp; DSP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20686"/>
            <a:ext cx="7968343" cy="24622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l">
              <a:defRPr sz="1400" b="0"/>
            </a:pPr>
            <a:r>
              <a:rPr dirty="0"/>
              <a:t>• Input Source: User-uploaded .mp3 and .wav files</a:t>
            </a:r>
            <a:endParaRPr lang="en-US" dirty="0"/>
          </a:p>
          <a:p>
            <a:pPr algn="l">
              <a:defRPr sz="1400" b="0"/>
            </a:pPr>
            <a:endParaRPr dirty="0"/>
          </a:p>
          <a:p>
            <a:pPr algn="l">
              <a:defRPr sz="1400" b="0"/>
            </a:pPr>
            <a:r>
              <a:rPr dirty="0"/>
              <a:t>• Processing Engine: </a:t>
            </a:r>
            <a:r>
              <a:rPr dirty="0" err="1"/>
              <a:t>Librosa</a:t>
            </a:r>
            <a:r>
              <a:rPr dirty="0"/>
              <a:t> &amp; </a:t>
            </a:r>
            <a:r>
              <a:rPr dirty="0" err="1"/>
              <a:t>FFmpeg</a:t>
            </a:r>
            <a:r>
              <a:rPr dirty="0"/>
              <a:t> are utilized inside the Docker container</a:t>
            </a:r>
            <a:endParaRPr lang="en-US" dirty="0"/>
          </a:p>
          <a:p>
            <a:pPr algn="l">
              <a:defRPr sz="1400" b="0"/>
            </a:pPr>
            <a:endParaRPr dirty="0"/>
          </a:p>
          <a:p>
            <a:pPr algn="l">
              <a:defRPr sz="1400" b="0"/>
            </a:pPr>
            <a:r>
              <a:rPr dirty="0"/>
              <a:t>• Feature Extraction:</a:t>
            </a:r>
          </a:p>
          <a:p>
            <a:pPr algn="l">
              <a:defRPr sz="1400" b="0"/>
            </a:pPr>
            <a:r>
              <a:rPr dirty="0"/>
              <a:t>  - Extracts Mel-Frequency Cepstral Coefficients (MFCCs) to model vocal/timbral features</a:t>
            </a:r>
          </a:p>
          <a:p>
            <a:pPr algn="l">
              <a:defRPr sz="1400" b="0"/>
            </a:pPr>
            <a:r>
              <a:rPr dirty="0"/>
              <a:t>  - Extracts Chroma vectors to model harmonic and pitch profiles</a:t>
            </a:r>
          </a:p>
          <a:p>
            <a:pPr algn="l">
              <a:defRPr sz="1400" b="0"/>
            </a:pPr>
            <a:r>
              <a:rPr dirty="0"/>
              <a:t>  - Computes Spectral Centroid and Spectral Roll-off to measure brightness and signal bandwidth</a:t>
            </a:r>
            <a:endParaRPr lang="en-US" dirty="0"/>
          </a:p>
          <a:p>
            <a:pPr algn="l">
              <a:defRPr sz="1400" b="0"/>
            </a:pPr>
            <a:endParaRPr dirty="0"/>
          </a:p>
          <a:p>
            <a:pPr algn="l">
              <a:defRPr sz="1400" b="0"/>
            </a:pPr>
            <a:r>
              <a:rPr dirty="0"/>
              <a:t>• Frontend Visualization: User browser reads the S3 audio stream and uses the HTML5 Web Audio API to render interactive frequency graphs in real-time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806806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8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1978663" y="381000"/>
            <a:ext cx="518667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/>
            </a:pPr>
            <a:r>
              <a:rPr dirty="0"/>
              <a:t>Implementation: DB &amp; Object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• Amazon RDS (Relational Database):</a:t>
            </a:r>
          </a:p>
          <a:p>
            <a:pPr>
              <a:defRPr sz="1400"/>
            </a:pPr>
            <a:r>
              <a:rPr dirty="0"/>
              <a:t>  - Provisioned a db.t4g.micro instance running MySQL</a:t>
            </a:r>
          </a:p>
          <a:p>
            <a:pPr>
              <a:defRPr sz="1400"/>
            </a:pPr>
            <a:r>
              <a:rPr dirty="0"/>
              <a:t>  - Handled data queries via </a:t>
            </a:r>
            <a:r>
              <a:rPr dirty="0" err="1"/>
              <a:t>SQLAlchemy</a:t>
            </a:r>
            <a:r>
              <a:rPr dirty="0"/>
              <a:t> ORM (User, Song, Favorite, </a:t>
            </a:r>
            <a:r>
              <a:rPr dirty="0" err="1"/>
              <a:t>RecentlyPlayed</a:t>
            </a:r>
            <a:r>
              <a:rPr dirty="0"/>
              <a:t> models)</a:t>
            </a:r>
          </a:p>
          <a:p>
            <a:pPr>
              <a:defRPr sz="1400"/>
            </a:pPr>
            <a:r>
              <a:rPr dirty="0"/>
              <a:t>  - Securely isolated: Port 3306 is open ONLY to the EC2 host Security Group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Amazon S3 (Object Storage):</a:t>
            </a:r>
          </a:p>
          <a:p>
            <a:pPr>
              <a:defRPr sz="1400"/>
            </a:pPr>
            <a:r>
              <a:rPr dirty="0"/>
              <a:t>  - Bucket: 'aurora-music-storage-team8' stores audio files</a:t>
            </a:r>
          </a:p>
          <a:p>
            <a:pPr>
              <a:defRPr sz="1400"/>
            </a:pPr>
            <a:r>
              <a:rPr dirty="0"/>
              <a:t>  - Files are renamed to random UUIDs upon upload to prevent conflicts</a:t>
            </a:r>
          </a:p>
          <a:p>
            <a:pPr>
              <a:defRPr sz="1400"/>
            </a:pPr>
            <a:r>
              <a:rPr dirty="0"/>
              <a:t>  - Streaming logic: App requests a secure pre-signed URL from S3 (1-hour expiry) to stream music to the user browser</a:t>
            </a:r>
          </a:p>
          <a:p>
            <a:pPr>
              <a:defRPr sz="1400"/>
            </a:pPr>
            <a:r>
              <a:rPr dirty="0"/>
              <a:t>  - CORS configured to allow cross-domain requests for visualizer</a:t>
            </a:r>
          </a:p>
        </p:txBody>
      </p:sp>
    </p:spTree>
    <p:extLst>
      <p:ext uri="{BB962C8B-B14F-4D97-AF65-F5344CB8AC3E}">
        <p14:creationId xmlns:p14="http://schemas.microsoft.com/office/powerpoint/2010/main" val="15131712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9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2163007" y="381000"/>
            <a:ext cx="481798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/>
            </a:pPr>
            <a:r>
              <a:rPr dirty="0"/>
              <a:t>Implementation: Security &amp; Secrets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• AWS Systems Manager (SSM) Parameter Store:</a:t>
            </a:r>
          </a:p>
          <a:p>
            <a:pPr>
              <a:defRPr sz="1400"/>
            </a:pPr>
            <a:r>
              <a:rPr dirty="0"/>
              <a:t>  - Holds 'DATABASE_URL' and 'S3_BUCKET_NAME' parameters securely</a:t>
            </a:r>
          </a:p>
          <a:p>
            <a:pPr>
              <a:defRPr sz="1400"/>
            </a:pPr>
            <a:r>
              <a:rPr dirty="0"/>
              <a:t>  - The application configuration fetches parameters at runtime. No secrets are hardcoded in the codebase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AWS IAM Instance Profile:</a:t>
            </a:r>
          </a:p>
          <a:p>
            <a:pPr>
              <a:defRPr sz="1400"/>
            </a:pPr>
            <a:r>
              <a:rPr dirty="0"/>
              <a:t>  - Attached the role 'aurora-music-ec2-role' directly to the EC2 server</a:t>
            </a:r>
          </a:p>
          <a:p>
            <a:pPr>
              <a:defRPr sz="1400"/>
            </a:pPr>
            <a:r>
              <a:rPr dirty="0"/>
              <a:t>  - Grants EC2 read/write access to S3, SSM, and CloudWatch Logs without saving static Access Keys in code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Container Log Management:</a:t>
            </a:r>
          </a:p>
          <a:p>
            <a:pPr>
              <a:defRPr sz="1400"/>
            </a:pPr>
            <a:r>
              <a:rPr dirty="0"/>
              <a:t>  - Implemented Docker's '</a:t>
            </a:r>
            <a:r>
              <a:rPr dirty="0" err="1"/>
              <a:t>awslogs</a:t>
            </a:r>
            <a:r>
              <a:rPr dirty="0"/>
              <a:t>' driver to pipe </a:t>
            </a:r>
            <a:r>
              <a:rPr dirty="0" err="1"/>
              <a:t>stdout</a:t>
            </a:r>
            <a:r>
              <a:rPr dirty="0"/>
              <a:t>/stderr into CloudWatch logs stream 'aurora-music-logs'</a:t>
            </a:r>
          </a:p>
        </p:txBody>
      </p:sp>
    </p:spTree>
    <p:extLst>
      <p:ext uri="{BB962C8B-B14F-4D97-AF65-F5344CB8AC3E}">
        <p14:creationId xmlns:p14="http://schemas.microsoft.com/office/powerpoint/2010/main" val="27809778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10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2393039" y="438150"/>
            <a:ext cx="435792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/>
            </a:pPr>
            <a:r>
              <a:rPr dirty="0"/>
              <a:t>Results &amp;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• Functional Completeness: The website successfully performs user registration, login, audio uploading, play history tracking, and audio recognition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High Availability &amp; Load Balancing:</a:t>
            </a:r>
          </a:p>
          <a:p>
            <a:pPr>
              <a:defRPr sz="1400"/>
            </a:pPr>
            <a:r>
              <a:rPr dirty="0"/>
              <a:t>  - The Application Load Balancer (ALB) </a:t>
            </a:r>
            <a:r>
              <a:rPr lang="en-US" dirty="0"/>
              <a:t>can </a:t>
            </a:r>
            <a:r>
              <a:rPr dirty="0"/>
              <a:t>manage</a:t>
            </a:r>
            <a:r>
              <a:rPr lang="en-US" dirty="0"/>
              <a:t> </a:t>
            </a:r>
            <a:r>
              <a:rPr dirty="0"/>
              <a:t>traffic distribution to EC2</a:t>
            </a:r>
          </a:p>
          <a:p>
            <a:pPr>
              <a:defRPr sz="1400"/>
            </a:pPr>
            <a:r>
              <a:rPr dirty="0"/>
              <a:t>  - The EC2 security group allows traffic only from the ALB, blocking malicious port scans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CDN Caching and SSL Optimization:</a:t>
            </a:r>
          </a:p>
          <a:p>
            <a:pPr>
              <a:defRPr sz="1400"/>
            </a:pPr>
            <a:r>
              <a:rPr dirty="0"/>
              <a:t>  - CloudFront CDN forces HTTP to HTTPS redirect, securing user credentials</a:t>
            </a:r>
          </a:p>
          <a:p>
            <a:pPr>
              <a:defRPr sz="1400"/>
            </a:pPr>
            <a:r>
              <a:rPr dirty="0"/>
              <a:t>  - </a:t>
            </a:r>
            <a:r>
              <a:rPr dirty="0" err="1"/>
              <a:t>CachingDisabled</a:t>
            </a:r>
            <a:r>
              <a:rPr dirty="0"/>
              <a:t> setting guarantees that session state, CSRF tokens, and dynamic login cookies pass directly to Flask</a:t>
            </a:r>
          </a:p>
        </p:txBody>
      </p:sp>
    </p:spTree>
    <p:extLst>
      <p:ext uri="{BB962C8B-B14F-4D97-AF65-F5344CB8AC3E}">
        <p14:creationId xmlns:p14="http://schemas.microsoft.com/office/powerpoint/2010/main" val="172246815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28" y="167221"/>
            <a:ext cx="8229600" cy="1005206"/>
          </a:xfrm>
        </p:spPr>
        <p:txBody>
          <a:bodyPr/>
          <a:lstStyle/>
          <a:p>
            <a:pPr>
              <a:defRPr sz="2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4" cy="307777"/>
          </a:xfrm>
        </p:spPr>
        <p:txBody>
          <a:bodyPr/>
          <a:lstStyle/>
          <a:p>
            <a:r>
              <a:rPr lang="en-IN" dirty="0"/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99D75-0552-F046-A2B6-1E50BBE5CA20}"/>
              </a:ext>
            </a:extLst>
          </p:cNvPr>
          <p:cNvSpPr txBox="1"/>
          <p:nvPr/>
        </p:nvSpPr>
        <p:spPr>
          <a:xfrm>
            <a:off x="1235947" y="1765202"/>
            <a:ext cx="6672105" cy="24622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400" b="0"/>
            </a:pPr>
            <a:r>
              <a:rPr dirty="0"/>
              <a:t>• Conclusion:</a:t>
            </a:r>
          </a:p>
          <a:p>
            <a:pPr algn="l">
              <a:defRPr sz="1400" b="0"/>
            </a:pPr>
            <a:r>
              <a:rPr dirty="0"/>
              <a:t>  - Successfully built a cloud-native, containerized audio streaming platform (Aurora Music) integrating 10 distinct AWS services.</a:t>
            </a:r>
          </a:p>
          <a:p>
            <a:pPr algn="l">
              <a:defRPr sz="1400" b="0"/>
            </a:pPr>
            <a:r>
              <a:rPr dirty="0"/>
              <a:t>  - Solved container dependencies, MySQL caching-sha2 password protocols, and CORS streaming blocks.</a:t>
            </a:r>
          </a:p>
          <a:p>
            <a:pPr algn="l">
              <a:defRPr sz="1400" b="0"/>
            </a:pPr>
            <a:endParaRPr dirty="0"/>
          </a:p>
          <a:p>
            <a:pPr algn="l">
              <a:defRPr sz="1400" b="0"/>
            </a:pPr>
            <a:r>
              <a:rPr dirty="0"/>
              <a:t>• Future Enhancements:</a:t>
            </a:r>
          </a:p>
          <a:p>
            <a:pPr algn="l">
              <a:defRPr sz="1400" b="0"/>
            </a:pPr>
            <a:r>
              <a:rPr dirty="0"/>
              <a:t>  - AI-based Recommendations: Recommend songs using user-based collaborative filtering.</a:t>
            </a:r>
          </a:p>
          <a:p>
            <a:pPr algn="l">
              <a:defRPr sz="1400" b="0"/>
            </a:pPr>
            <a:r>
              <a:rPr dirty="0"/>
              <a:t>  - ACM SSL Certificate: Bind custom SSL/TLS certificates to the CloudFront distribution.</a:t>
            </a:r>
          </a:p>
          <a:p>
            <a:pPr algn="l">
              <a:defRPr sz="1400" b="0"/>
            </a:pPr>
            <a:r>
              <a:rPr dirty="0"/>
              <a:t>  - Auto Scaling Groups: Automatically adjust EC2 instance capacity based on CPU utilization and request throughput.</a:t>
            </a:r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137" y="1137103"/>
            <a:ext cx="8229600" cy="1005206"/>
          </a:xfrm>
        </p:spPr>
        <p:txBody>
          <a:bodyPr/>
          <a:lstStyle/>
          <a:p>
            <a:pPr>
              <a:defRPr sz="2400" b="1"/>
            </a:pPr>
            <a:r>
              <a:rPr dirty="0"/>
              <a:t>Key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dirty="0"/>
              <a:t> 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12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9BE3F-1FA1-BB9E-E18C-47F62E83D638}"/>
              </a:ext>
            </a:extLst>
          </p:cNvPr>
          <p:cNvSpPr txBox="1"/>
          <p:nvPr/>
        </p:nvSpPr>
        <p:spPr>
          <a:xfrm>
            <a:off x="672737" y="2609588"/>
            <a:ext cx="8001000" cy="1692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l">
              <a:defRPr sz="1100" b="0"/>
            </a:pPr>
            <a:r>
              <a:rPr sz="1300" dirty="0"/>
              <a:t>[1] B. Pahl, 'Containerization and the PaaS Cloud,' IEEE Cloud Computing, 2015.</a:t>
            </a:r>
            <a:endParaRPr lang="en-US" sz="1300" dirty="0"/>
          </a:p>
          <a:p>
            <a:pPr algn="l">
              <a:defRPr sz="1100" b="0"/>
            </a:pPr>
            <a:r>
              <a:rPr sz="1300" dirty="0"/>
              <a:t>[2] B. McFee et al., '</a:t>
            </a:r>
            <a:r>
              <a:rPr sz="1300" dirty="0" err="1"/>
              <a:t>Librosa</a:t>
            </a:r>
            <a:r>
              <a:rPr sz="1300" dirty="0"/>
              <a:t>: Audio and Music Signal Analysis in Python,' SciPy, 2015.</a:t>
            </a:r>
          </a:p>
          <a:p>
            <a:pPr algn="l">
              <a:defRPr sz="1100" b="0"/>
            </a:pPr>
            <a:r>
              <a:rPr sz="1300" dirty="0"/>
              <a:t>[3] A. </a:t>
            </a:r>
            <a:r>
              <a:rPr sz="1300" dirty="0" err="1"/>
              <a:t>Balalaie</a:t>
            </a:r>
            <a:r>
              <a:rPr sz="1300" dirty="0"/>
              <a:t> et al., 'Microservices Architecture Enables DevOps,' IEEE Software, 2016.</a:t>
            </a:r>
          </a:p>
          <a:p>
            <a:pPr algn="l">
              <a:defRPr sz="1100" b="0"/>
            </a:pPr>
            <a:r>
              <a:rPr sz="1300" dirty="0"/>
              <a:t>[4] Amazon Web Services, 'Amazon EC2, S3, and RDS Documentation,' AWS online docs.</a:t>
            </a:r>
          </a:p>
          <a:p>
            <a:pPr algn="l">
              <a:defRPr sz="1100" b="0"/>
            </a:pPr>
            <a:r>
              <a:rPr sz="1300" dirty="0"/>
              <a:t>[5] D. Merkel, 'Docker: Lightweight Linux Containers for Consistent Development/Deployment,' Linux Journal, 2014.</a:t>
            </a:r>
          </a:p>
          <a:p>
            <a:pPr algn="l">
              <a:defRPr sz="1100" b="0"/>
            </a:pPr>
            <a:r>
              <a:rPr sz="1300" dirty="0"/>
              <a:t>[6] N. </a:t>
            </a:r>
            <a:r>
              <a:rPr sz="1300" dirty="0" err="1"/>
              <a:t>Dragoni</a:t>
            </a:r>
            <a:r>
              <a:rPr sz="1300" dirty="0"/>
              <a:t> et al., 'Microservices: Yesterday, Today, and Tomorrow,' 2017.</a:t>
            </a:r>
          </a:p>
          <a:p>
            <a:pPr algn="l">
              <a:defRPr sz="1100" b="0"/>
            </a:pPr>
            <a:r>
              <a:rPr sz="1300" dirty="0"/>
              <a:t>[7] R. </a:t>
            </a:r>
            <a:r>
              <a:rPr sz="1300" dirty="0" err="1"/>
              <a:t>Buyya</a:t>
            </a:r>
            <a:r>
              <a:rPr sz="1300" dirty="0"/>
              <a:t> et al., 'Market-Oriented Cloud Computing,' FGCS, 2009.</a:t>
            </a:r>
          </a:p>
          <a:p>
            <a:pPr algn="l">
              <a:defRPr sz="1100" b="0"/>
            </a:pPr>
            <a:r>
              <a:rPr sz="1300" dirty="0"/>
              <a:t>[8] W. Vogels, 'A Head in the Clouds: The Power of Infrastructure as a Service,' Queue, 2008.</a:t>
            </a:r>
          </a:p>
        </p:txBody>
      </p:sp>
    </p:spTree>
    <p:extLst>
      <p:ext uri="{BB962C8B-B14F-4D97-AF65-F5344CB8AC3E}">
        <p14:creationId xmlns:p14="http://schemas.microsoft.com/office/powerpoint/2010/main" val="12580987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pPr algn="ctr">
              <a:defRPr sz="3200" b="1"/>
            </a:pPr>
            <a:r>
              <a:t>THANK YOU!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7806</TotalTime>
  <Words>1229</Words>
  <Application>Microsoft Office PowerPoint</Application>
  <PresentationFormat>On-screen Show (4:3)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11_Default Design</vt:lpstr>
      <vt:lpstr>Aurora Music: Cloud-Native Music Streaming &amp; Audio Identification Platform</vt:lpstr>
      <vt:lpstr>Introduction</vt:lpstr>
      <vt:lpstr>Literature Survey (LR Summary)</vt:lpstr>
      <vt:lpstr>Software &amp; Hardware Requirements</vt:lpstr>
      <vt:lpstr>System Architecture &amp; Design</vt:lpstr>
      <vt:lpstr>System Architecture &amp; Design</vt:lpstr>
      <vt:lpstr>PowerPoint Presentation</vt:lpstr>
      <vt:lpstr>PowerPoint Presentation</vt:lpstr>
      <vt:lpstr>PowerPoint Presentation</vt:lpstr>
      <vt:lpstr>PowerPoint Presentation</vt:lpstr>
      <vt:lpstr>Conclusion &amp; Future Enhancements</vt:lpstr>
      <vt:lpstr>Key References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Thoshan Reddim</cp:lastModifiedBy>
  <cp:revision>170</cp:revision>
  <dcterms:modified xsi:type="dcterms:W3CDTF">2026-05-20T17:38:30Z</dcterms:modified>
</cp:coreProperties>
</file>